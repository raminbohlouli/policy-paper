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06" y="-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in\source\repos\Research%20Repo\ModeChoiceHybrid\Fastweb\Data\Charts\main_mod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in\source\repos\Research%20Repo\ModeChoiceHybrid\Fastweb\Data\Charts\age_grou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min\source\repos\Research%20Repo\ModeChoiceHybrid\Fastweb\Data\Charts\satisfaction_with_mod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Main Mode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chart!$H$1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chart!$F$2:$F$9</c:f>
              <c:strCache>
                <c:ptCount val="8"/>
                <c:pt idx="0">
                  <c:v>bike</c:v>
                </c:pt>
                <c:pt idx="1">
                  <c:v>car</c:v>
                </c:pt>
                <c:pt idx="2">
                  <c:v>carpooling_driver</c:v>
                </c:pt>
                <c:pt idx="3">
                  <c:v>carpooling_passenger</c:v>
                </c:pt>
                <c:pt idx="4">
                  <c:v>motorcycle</c:v>
                </c:pt>
                <c:pt idx="5">
                  <c:v>public_transport</c:v>
                </c:pt>
                <c:pt idx="6">
                  <c:v>spostamento multimodale</c:v>
                </c:pt>
                <c:pt idx="7">
                  <c:v>walking</c:v>
                </c:pt>
              </c:strCache>
            </c:strRef>
          </c:cat>
          <c:val>
            <c:numRef>
              <c:f>chart!$H$2:$H$9</c:f>
              <c:numCache>
                <c:formatCode>General</c:formatCode>
                <c:ptCount val="8"/>
                <c:pt idx="0">
                  <c:v>3.08</c:v>
                </c:pt>
                <c:pt idx="1">
                  <c:v>57.11</c:v>
                </c:pt>
                <c:pt idx="2">
                  <c:v>0.98</c:v>
                </c:pt>
                <c:pt idx="3">
                  <c:v>0.33</c:v>
                </c:pt>
                <c:pt idx="4">
                  <c:v>7.99</c:v>
                </c:pt>
                <c:pt idx="5">
                  <c:v>21.68</c:v>
                </c:pt>
                <c:pt idx="6">
                  <c:v>6.42</c:v>
                </c:pt>
                <c:pt idx="7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62-47D8-A3A9-42BA7D4EA02C}"/>
            </c:ext>
          </c:extLst>
        </c:ser>
        <c:ser>
          <c:idx val="1"/>
          <c:order val="1"/>
          <c:tx>
            <c:strRef>
              <c:f>chart!$I$1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chart!$F$2:$F$9</c:f>
              <c:strCache>
                <c:ptCount val="8"/>
                <c:pt idx="0">
                  <c:v>bike</c:v>
                </c:pt>
                <c:pt idx="1">
                  <c:v>car</c:v>
                </c:pt>
                <c:pt idx="2">
                  <c:v>carpooling_driver</c:v>
                </c:pt>
                <c:pt idx="3">
                  <c:v>carpooling_passenger</c:v>
                </c:pt>
                <c:pt idx="4">
                  <c:v>motorcycle</c:v>
                </c:pt>
                <c:pt idx="5">
                  <c:v>public_transport</c:v>
                </c:pt>
                <c:pt idx="6">
                  <c:v>spostamento multimodale</c:v>
                </c:pt>
                <c:pt idx="7">
                  <c:v>walking</c:v>
                </c:pt>
              </c:strCache>
            </c:strRef>
          </c:cat>
          <c:val>
            <c:numRef>
              <c:f>chart!$I$2:$I$9</c:f>
              <c:numCache>
                <c:formatCode>General</c:formatCode>
                <c:ptCount val="8"/>
                <c:pt idx="0">
                  <c:v>2.69</c:v>
                </c:pt>
                <c:pt idx="1">
                  <c:v>58.55</c:v>
                </c:pt>
                <c:pt idx="2">
                  <c:v>0.72</c:v>
                </c:pt>
                <c:pt idx="3">
                  <c:v>0.46</c:v>
                </c:pt>
                <c:pt idx="4">
                  <c:v>7.92</c:v>
                </c:pt>
                <c:pt idx="5">
                  <c:v>22.59</c:v>
                </c:pt>
                <c:pt idx="6">
                  <c:v>4.3899999999999997</c:v>
                </c:pt>
                <c:pt idx="7">
                  <c:v>2.69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62-47D8-A3A9-42BA7D4EA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5955743"/>
        <c:axId val="1145972543"/>
      </c:barChart>
      <c:catAx>
        <c:axId val="1145955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5972543"/>
        <c:crosses val="autoZero"/>
        <c:auto val="1"/>
        <c:lblAlgn val="ctr"/>
        <c:lblOffset val="100"/>
        <c:noMultiLvlLbl val="0"/>
      </c:catAx>
      <c:valAx>
        <c:axId val="1145972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595574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chart!$G$1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chart!$F$2:$F$6</c:f>
              <c:strCache>
                <c:ptCount val="5"/>
                <c:pt idx="0">
                  <c:v>36_40</c:v>
                </c:pt>
                <c:pt idx="1">
                  <c:v>41_55</c:v>
                </c:pt>
                <c:pt idx="2">
                  <c:v>56_60</c:v>
                </c:pt>
                <c:pt idx="3">
                  <c:v>less_than_35</c:v>
                </c:pt>
                <c:pt idx="4">
                  <c:v>more_than_60</c:v>
                </c:pt>
              </c:strCache>
            </c:strRef>
          </c:cat>
          <c:val>
            <c:numRef>
              <c:f>chart!$G$2:$G$6</c:f>
              <c:numCache>
                <c:formatCode>General</c:formatCode>
                <c:ptCount val="5"/>
                <c:pt idx="0">
                  <c:v>11.66</c:v>
                </c:pt>
                <c:pt idx="1">
                  <c:v>74.13</c:v>
                </c:pt>
                <c:pt idx="2">
                  <c:v>6.22</c:v>
                </c:pt>
                <c:pt idx="3">
                  <c:v>6.48</c:v>
                </c:pt>
                <c:pt idx="4">
                  <c:v>1.51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18-4B64-9CF9-A3A08F87319F}"/>
            </c:ext>
          </c:extLst>
        </c:ser>
        <c:ser>
          <c:idx val="1"/>
          <c:order val="1"/>
          <c:tx>
            <c:strRef>
              <c:f>chart!$H$1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chart!$F$2:$F$6</c:f>
              <c:strCache>
                <c:ptCount val="5"/>
                <c:pt idx="0">
                  <c:v>36_40</c:v>
                </c:pt>
                <c:pt idx="1">
                  <c:v>41_55</c:v>
                </c:pt>
                <c:pt idx="2">
                  <c:v>56_60</c:v>
                </c:pt>
                <c:pt idx="3">
                  <c:v>less_than_35</c:v>
                </c:pt>
                <c:pt idx="4">
                  <c:v>more_than_60</c:v>
                </c:pt>
              </c:strCache>
            </c:strRef>
          </c:cat>
          <c:val>
            <c:numRef>
              <c:f>chart!$H$2:$H$6</c:f>
              <c:numCache>
                <c:formatCode>General</c:formatCode>
                <c:ptCount val="5"/>
                <c:pt idx="0">
                  <c:v>9.43</c:v>
                </c:pt>
                <c:pt idx="1">
                  <c:v>74.59</c:v>
                </c:pt>
                <c:pt idx="2">
                  <c:v>7.99</c:v>
                </c:pt>
                <c:pt idx="3">
                  <c:v>5.57</c:v>
                </c:pt>
                <c:pt idx="4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18-4B64-9CF9-A3A08F87319F}"/>
            </c:ext>
          </c:extLst>
        </c:ser>
        <c:ser>
          <c:idx val="2"/>
          <c:order val="2"/>
          <c:tx>
            <c:strRef>
              <c:f>chart!$I$1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chart!$F$2:$F$6</c:f>
              <c:strCache>
                <c:ptCount val="5"/>
                <c:pt idx="0">
                  <c:v>36_40</c:v>
                </c:pt>
                <c:pt idx="1">
                  <c:v>41_55</c:v>
                </c:pt>
                <c:pt idx="2">
                  <c:v>56_60</c:v>
                </c:pt>
                <c:pt idx="3">
                  <c:v>less_than_35</c:v>
                </c:pt>
                <c:pt idx="4">
                  <c:v>more_than_60</c:v>
                </c:pt>
              </c:strCache>
            </c:strRef>
          </c:cat>
          <c:val>
            <c:numRef>
              <c:f>chart!$I$2:$I$6</c:f>
              <c:numCache>
                <c:formatCode>General</c:formatCode>
                <c:ptCount val="5"/>
                <c:pt idx="0">
                  <c:v>7.53</c:v>
                </c:pt>
                <c:pt idx="1">
                  <c:v>74.459999999999994</c:v>
                </c:pt>
                <c:pt idx="2">
                  <c:v>10.09</c:v>
                </c:pt>
                <c:pt idx="3">
                  <c:v>4.5199999999999996</c:v>
                </c:pt>
                <c:pt idx="4">
                  <c:v>3.41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18-4B64-9CF9-A3A08F873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6019103"/>
        <c:axId val="1146015743"/>
      </c:barChart>
      <c:catAx>
        <c:axId val="1146019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6015743"/>
        <c:crosses val="autoZero"/>
        <c:auto val="1"/>
        <c:lblAlgn val="ctr"/>
        <c:lblOffset val="100"/>
        <c:noMultiLvlLbl val="0"/>
      </c:catAx>
      <c:valAx>
        <c:axId val="1146015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60191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Sheet1!$R$2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Sheet1!$Q$3:$Q$10</c:f>
              <c:strCache>
                <c:ptCount val="8"/>
                <c:pt idx="0">
                  <c:v>bike</c:v>
                </c:pt>
                <c:pt idx="1">
                  <c:v>public_transport</c:v>
                </c:pt>
                <c:pt idx="2">
                  <c:v>motorcycle</c:v>
                </c:pt>
                <c:pt idx="3">
                  <c:v>car</c:v>
                </c:pt>
                <c:pt idx="4">
                  <c:v>multimodal</c:v>
                </c:pt>
                <c:pt idx="5">
                  <c:v>carpooling_passenger</c:v>
                </c:pt>
                <c:pt idx="6">
                  <c:v>carpooling_driver</c:v>
                </c:pt>
                <c:pt idx="7">
                  <c:v>walking</c:v>
                </c:pt>
              </c:strCache>
            </c:strRef>
          </c:cat>
          <c:val>
            <c:numRef>
              <c:f>Sheet1!$R$3:$R$10</c:f>
              <c:numCache>
                <c:formatCode>General</c:formatCode>
                <c:ptCount val="8"/>
                <c:pt idx="0">
                  <c:v>3.54</c:v>
                </c:pt>
                <c:pt idx="1">
                  <c:v>2.1701492537313434</c:v>
                </c:pt>
                <c:pt idx="2">
                  <c:v>3.3076923076923075</c:v>
                </c:pt>
                <c:pt idx="3">
                  <c:v>3.0047961630695443</c:v>
                </c:pt>
                <c:pt idx="4">
                  <c:v>1.8888888888888888</c:v>
                </c:pt>
                <c:pt idx="5">
                  <c:v>4</c:v>
                </c:pt>
                <c:pt idx="6">
                  <c:v>3.0714285714285716</c:v>
                </c:pt>
                <c:pt idx="7">
                  <c:v>3.5142857142857142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D-495E-A3FC-51729CBB8FA4}"/>
            </c:ext>
          </c:extLst>
        </c:ser>
        <c:ser>
          <c:idx val="1"/>
          <c:order val="1"/>
          <c:tx>
            <c:strRef>
              <c:f>Sheet1!$S$2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Sheet1!$Q$3:$Q$10</c:f>
              <c:strCache>
                <c:ptCount val="8"/>
                <c:pt idx="0">
                  <c:v>bike</c:v>
                </c:pt>
                <c:pt idx="1">
                  <c:v>public_transport</c:v>
                </c:pt>
                <c:pt idx="2">
                  <c:v>motorcycle</c:v>
                </c:pt>
                <c:pt idx="3">
                  <c:v>car</c:v>
                </c:pt>
                <c:pt idx="4">
                  <c:v>multimodal</c:v>
                </c:pt>
                <c:pt idx="5">
                  <c:v>carpooling_passenger</c:v>
                </c:pt>
                <c:pt idx="6">
                  <c:v>carpooling_driver</c:v>
                </c:pt>
                <c:pt idx="7">
                  <c:v>walking</c:v>
                </c:pt>
              </c:strCache>
            </c:strRef>
          </c:cat>
          <c:val>
            <c:numRef>
              <c:f>Sheet1!$S$3:$S$10</c:f>
              <c:numCache>
                <c:formatCode>General</c:formatCode>
                <c:ptCount val="8"/>
                <c:pt idx="0">
                  <c:v>3.4468085106382977</c:v>
                </c:pt>
                <c:pt idx="1">
                  <c:v>2.3655589123867071</c:v>
                </c:pt>
                <c:pt idx="2">
                  <c:v>3.5655737704918034</c:v>
                </c:pt>
                <c:pt idx="3">
                  <c:v>3.1857798165137616</c:v>
                </c:pt>
                <c:pt idx="4">
                  <c:v>2.1836734693877551</c:v>
                </c:pt>
                <c:pt idx="5">
                  <c:v>3.6</c:v>
                </c:pt>
                <c:pt idx="6">
                  <c:v>2.8666666666666667</c:v>
                </c:pt>
                <c:pt idx="7">
                  <c:v>3.4594594594594597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0D-495E-A3FC-51729CBB8FA4}"/>
            </c:ext>
          </c:extLst>
        </c:ser>
        <c:ser>
          <c:idx val="2"/>
          <c:order val="2"/>
          <c:tx>
            <c:strRef>
              <c:f>Sheet1!$T$2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Sheet1!$Q$3:$Q$10</c:f>
              <c:strCache>
                <c:ptCount val="8"/>
                <c:pt idx="0">
                  <c:v>bike</c:v>
                </c:pt>
                <c:pt idx="1">
                  <c:v>public_transport</c:v>
                </c:pt>
                <c:pt idx="2">
                  <c:v>motorcycle</c:v>
                </c:pt>
                <c:pt idx="3">
                  <c:v>car</c:v>
                </c:pt>
                <c:pt idx="4">
                  <c:v>multimodal</c:v>
                </c:pt>
                <c:pt idx="5">
                  <c:v>carpooling_passenger</c:v>
                </c:pt>
                <c:pt idx="6">
                  <c:v>carpooling_driver</c:v>
                </c:pt>
                <c:pt idx="7">
                  <c:v>walking</c:v>
                </c:pt>
              </c:strCache>
            </c:strRef>
          </c:cat>
          <c:val>
            <c:numRef>
              <c:f>Sheet1!$T$3:$T$10</c:f>
              <c:numCache>
                <c:formatCode>General</c:formatCode>
                <c:ptCount val="8"/>
                <c:pt idx="0">
                  <c:v>3.5121951219512195</c:v>
                </c:pt>
                <c:pt idx="1">
                  <c:v>2.4376811594202898</c:v>
                </c:pt>
                <c:pt idx="2">
                  <c:v>3.4876033057851239</c:v>
                </c:pt>
                <c:pt idx="3">
                  <c:v>3.2516778523489931</c:v>
                </c:pt>
                <c:pt idx="4">
                  <c:v>2.1343283582089554</c:v>
                </c:pt>
                <c:pt idx="5">
                  <c:v>3.5714285714285716</c:v>
                </c:pt>
                <c:pt idx="6">
                  <c:v>3.1818181818181817</c:v>
                </c:pt>
                <c:pt idx="7">
                  <c:v>3.4878048780487805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0D-495E-A3FC-51729CBB8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4661680"/>
        <c:axId val="1874663600"/>
      </c:barChart>
      <c:catAx>
        <c:axId val="1874661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4663600"/>
        <c:crosses val="autoZero"/>
        <c:auto val="1"/>
        <c:lblAlgn val="ctr"/>
        <c:lblOffset val="100"/>
        <c:noMultiLvlLbl val="0"/>
      </c:catAx>
      <c:valAx>
        <c:axId val="1874663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4661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C6AB-A113-3A9F-E44E-47CB4E59D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BD4F8-2113-7216-15DC-224396354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F6646-55FD-C4C1-0129-2D8B1511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92FDA-90A9-5F8B-A132-0EB8529B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5AD0-EE94-68F4-E6A5-FA7D0CF8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40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5BC1D-9B4D-FAF5-2674-F0281749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439D0-794E-4ED0-C0C7-CA8B017C5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88ACE-327F-F030-2D5D-C384611E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901FE-FF1D-FF8A-F153-D4F20791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30E78-6E04-D747-A120-CC1418DD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4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97D3-3386-F713-0413-6E094E5BE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20906-5914-211E-A297-0D5AD177D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1BFF8-16DB-8ED4-B817-59040027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25BCB-7DD5-C42A-6DBB-B6CFFB3E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EC1C2-3718-5C68-E7F4-BEDD63AD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8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41B2-0E9C-F271-B49F-318D4A44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80190-4011-0311-FBF4-66C32789B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E74B2-644C-C9E2-4692-54670ADF9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6C4B-B86C-C82B-D72E-3A43FCB0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DF2FA-CC7D-C693-725B-F4DBD840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2003B-8E6B-409B-4AC1-B3AA7B48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9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2416-C2E9-43EE-25D2-C6B53E422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804AB-5053-E4EE-A501-365681477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0834C-25D2-83A0-F2E0-D8C4B696D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D7F08-F850-C2DD-3D2B-D437ECA99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979237-E4AE-3C50-073C-CAFCDB6D0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5F2B7C-39CE-67A3-0DBF-A82F6C744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06754-D75C-5E41-D498-D70A8B0D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B2AEA-90B6-F041-F597-57EC4605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4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79C10-4FEB-DF3F-A1A9-2EE11E94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BFFA9-5A8D-C9F4-D3AD-D1E1EB27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665B7-27F4-C020-B695-77327528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E0EE0-05A9-4174-93E8-C23AE9AD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45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BAB4C-B1DC-33BF-7E7F-3E214678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14135-E586-E13A-22F7-19A158F2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F5456-04D4-EFFE-8A1B-A4AB2BB6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7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97E2-8E09-0308-F64C-B250B3B81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F488B-B770-2672-57D9-D5674C274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58D0B-92C4-5C9A-4129-CAE68F0D8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CAE12-2F55-A28A-0DC3-391F0770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19E6E-6281-A983-F96E-BD46338C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2C346-EFF1-2371-723E-4FA4ECB6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47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A70F-F4A2-BC18-A043-0954AAFC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F64EA-A728-3B2E-964E-0B45199B4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42C70-F344-357D-580B-FD40EB063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E0216-CBB5-7DCA-20B9-CCFF260DF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F28EA-D4DC-3824-1FA2-CA5AE4AB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7CB0A-B8AB-FBDA-E20D-889B8A3F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8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04B5-C06E-B135-08C0-7871F690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3E0EF-3812-9631-1117-EF1405922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712B8-CF31-21A2-0FFC-A387DE7B2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BB87C-C96D-29E3-EB05-1FD63E61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F63A5-5E6F-A5B7-5DF9-51A3FFA3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1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8330A9-4B4A-9BD3-DC51-761E7ACAB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57D11-F537-CE76-6A84-96AF740FF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8E846-078E-8F50-2208-FF93B525B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75DB1-36D8-A707-F59E-90A17F637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ABCE7-B8EA-4A31-219B-C619720E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38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75BEC-5E27-AE5F-B69B-AC676E1B8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225D1-E21E-96BB-1AA2-DC169F586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4CB8C-6E69-2162-D9F2-89F138C1C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29ADC-BB9B-43AF-BD5B-AC7FE61A739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89A21-95B1-4B5E-4F3C-E179766E0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EC09F-6C37-30F1-A15D-C8973DA48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26ECC-F22E-490B-8C66-35F2FC0C8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0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40A97A-EE92-C5B1-3B02-9166E25B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Mode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E9C6250-4216-A082-3D44-0CDF20061E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051423"/>
              </p:ext>
            </p:extLst>
          </p:nvPr>
        </p:nvGraphicFramePr>
        <p:xfrm>
          <a:off x="2162503" y="1584435"/>
          <a:ext cx="786699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5777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514F-2279-FBB5-7903-C1A364EE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E9F9CF1-A1D3-FC2F-4CCD-CF04457CD1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0575347"/>
              </p:ext>
            </p:extLst>
          </p:nvPr>
        </p:nvGraphicFramePr>
        <p:xfrm>
          <a:off x="2317530" y="1857703"/>
          <a:ext cx="7740869" cy="4080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06959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EE3A-504A-B8D4-5D54-698B7084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E99F1-9D2E-5F0D-D152-3D35ACEDC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17" y="1565520"/>
            <a:ext cx="4562366" cy="492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22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7EDD-389E-B954-2FA1-93CC77C6F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Satisfaction change in three years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4111CC9-C38A-B1E3-05AC-87CA7CF2B1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3865195"/>
              </p:ext>
            </p:extLst>
          </p:nvPr>
        </p:nvGraphicFramePr>
        <p:xfrm>
          <a:off x="2300451" y="1765739"/>
          <a:ext cx="7591097" cy="4285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66749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16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Main Mode</vt:lpstr>
      <vt:lpstr>Age</vt:lpstr>
      <vt:lpstr>Office distribution</vt:lpstr>
      <vt:lpstr>Satisfaction change in three years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 Bohlouli</dc:creator>
  <cp:lastModifiedBy>Ramin Bohlouli</cp:lastModifiedBy>
  <cp:revision>6</cp:revision>
  <dcterms:created xsi:type="dcterms:W3CDTF">2026-03-08T17:46:17Z</dcterms:created>
  <dcterms:modified xsi:type="dcterms:W3CDTF">2026-03-11T16:58:56Z</dcterms:modified>
</cp:coreProperties>
</file>